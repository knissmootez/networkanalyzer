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An AI Copilot for Network &amp; Commercial Operations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3515258" cy="164592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Unified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Network + commercial data, one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2468880"/>
            <a:ext cx="3515258" cy="164592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246888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Agentic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Reasons over your data and self-corrects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2468880"/>
            <a:ext cx="3515258" cy="164592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2468880"/>
            <a:ext cx="3515258" cy="50800"/>
          </a:xfrm>
          <a:prstGeom prst="rect">
            <a:avLst/>
          </a:prstGeom>
          <a:solidFill>
            <a:srgbClr val="F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697480"/>
            <a:ext cx="305805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Human-in-loop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337560"/>
            <a:ext cx="3058058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AI proposes - people approve &amp; 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Solution Overview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Overview   -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Market Insight &amp; Operator Challenges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A5A5"/>
                </a:solidFill>
                <a:latin typeface="Calibri"/>
              </a:rPr>
              <a:t>Why operators struggle to turn data into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10047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5410047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Data-rich, insight-poor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Operators hold massive network and billing data, but getting answers needs SQL, dashboards and specialists.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33007" y="1554480"/>
            <a:ext cx="5410047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3007" y="1554480"/>
            <a:ext cx="5410047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7" y="171907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Rising churn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21284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Subscribers leave over service quality and price - and churn is usually spotted late, after the damage is done.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91940"/>
            <a:ext cx="5410047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4091940"/>
            <a:ext cx="5410047" cy="50800"/>
          </a:xfrm>
          <a:prstGeom prst="rect">
            <a:avLst/>
          </a:prstGeom>
          <a:solidFill>
            <a:srgbClr val="F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Missed monetization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5G upsell, plan upgrades and retention offers go untapped without timely, targeted insight.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091940"/>
            <a:ext cx="5410047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3007" y="4091940"/>
            <a:ext cx="5410047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1607" y="4256532"/>
            <a:ext cx="495284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Siloed &amp;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750308"/>
            <a:ext cx="4952847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Network and commercial teams work apart; manual analysis takes days while decisions lag the problem.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Market &amp; Challenges   - 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Proposed Solution &amp;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A5A5"/>
                </a:solidFill>
                <a:latin typeface="Calibri"/>
              </a:rPr>
              <a:t>A conversational copilot over the operator's own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Ask in plain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Natural-language questions over network + commercial data - no SQL required.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Agentic reasoning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Plans multi-step queries, self-corrects wrong tables/columns, grounds answers in real rows.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F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Visual insight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Auto-generated charts, drill-down mind maps and strategy diagrams from any question.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Human-in-the-loop ops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The AI proposes SMS &amp; campaigns; a person reviews, edits and approves - or originates their own.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Closed-loop campaigns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Tracks delivery and replies, feeding results back so targeting keeps improving.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Proactive retention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Links service issues to churn risk and surfaces high-value customers worth saving.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Solution &amp; Features   -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Solution Value &amp; Benefits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A5A5"/>
                </a:solidFill>
                <a:latin typeface="Calibri"/>
              </a:rPr>
              <a:t>What the operator gains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Faster decisions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Answers in seconds, not days - anyone can query the data directly.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Proactive retention &amp; upsell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Spot at-risk high-value customers and act before they churn.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F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Trustworthy answers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Grounded in real query results, with guards against fabricated numbers.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Safe by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No action fires without human approval - with a full audit trail.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One unified 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Network quality and commercial value, together at last.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Lower cost to insight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Removes the analyst bottleneck between a question and its answer.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Value &amp; Benefits   -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Demo &amp; Screenshots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A5A5"/>
                </a:solidFill>
                <a:latin typeface="Calibri"/>
              </a:rPr>
              <a:t>The solution in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3515258" cy="42062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64592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9B8BC"/>
                </a:solidFill>
                <a:latin typeface="Calibri"/>
              </a:rPr>
              <a:t>[ screenshot 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Copilot Chat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B8BC"/>
                </a:solidFill>
                <a:latin typeface="Calibri"/>
              </a:rPr>
              <a:t>Ask questions, get grounded answers + visuals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645920"/>
            <a:ext cx="3515258" cy="42062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64592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38218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9B8BC"/>
                </a:solidFill>
                <a:latin typeface="Calibri"/>
              </a:rPr>
              <a:t>[ screenshot 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6818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Analytics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6818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B8BC"/>
                </a:solidFill>
                <a:latin typeface="Calibri"/>
              </a:rPr>
              <a:t>Network, subscribers, commercial &amp; campaigns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27796" y="1645920"/>
            <a:ext cx="3515258" cy="42062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1645920"/>
            <a:ext cx="3515258" cy="50800"/>
          </a:xfrm>
          <a:prstGeom prst="rect">
            <a:avLst/>
          </a:prstGeom>
          <a:solidFill>
            <a:srgbClr val="F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27796" y="3017520"/>
            <a:ext cx="35152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D9B8BC"/>
                </a:solidFill>
                <a:latin typeface="Calibri"/>
              </a:rPr>
              <a:t>[ screenshot 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6396" y="4892040"/>
            <a:ext cx="305805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Ops Portal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56396" y="5303520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B8BC"/>
                </a:solidFill>
                <a:latin typeface="Calibri"/>
              </a:rPr>
              <a:t>Review, approve, edit and send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D9B8BC"/>
                </a:solidFill>
                <a:latin typeface="Calibri"/>
              </a:rPr>
              <a:t>Replace the placeholders with live screenshots before presenting.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Demo   - 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Areas of Improvement - What's Next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78992"/>
            <a:ext cx="128016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70432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6A5A5"/>
                </a:solidFill>
                <a:latin typeface="Calibri"/>
              </a:rPr>
              <a:t>Where the solution goes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55448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Multi-user &amp; memory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Per-session isolation and persistent memory for team-wide use.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38218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38218" y="155448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6818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Deeper churn model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Fold network-experience signals directly into churn prediction.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55448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127796" y="1554480"/>
            <a:ext cx="3515258" cy="50800"/>
          </a:xfrm>
          <a:prstGeom prst="rect">
            <a:avLst/>
          </a:prstGeom>
          <a:solidFill>
            <a:srgbClr val="F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171907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Live integrations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21284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Real SMS / CRM gateways and streaming data sources.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91940"/>
            <a:ext cx="3515258" cy="50800"/>
          </a:xfrm>
          <a:prstGeom prst="rect">
            <a:avLst/>
          </a:prstGeom>
          <a:solidFill>
            <a:srgbClr val="8A00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More autonomy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Scheduled insights and guarded auto-actions within policy.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38218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38218" y="4091940"/>
            <a:ext cx="3515258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66818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Production hardening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Scale for larger data volumes and concurrent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27796" y="4091940"/>
            <a:ext cx="3515258" cy="2263140"/>
          </a:xfrm>
          <a:prstGeom prst="rect">
            <a:avLst/>
          </a:prstGeom>
          <a:solidFill>
            <a:srgbClr val="3514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127796" y="4091940"/>
            <a:ext cx="3515258" cy="50800"/>
          </a:xfrm>
          <a:prstGeom prst="rect">
            <a:avLst/>
          </a:prstGeom>
          <a:solidFill>
            <a:srgbClr val="E84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6396" y="4256532"/>
            <a:ext cx="305805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Broader analytics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750308"/>
            <a:ext cx="3058058" cy="1440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9B8BC"/>
                </a:solidFill>
                <a:latin typeface="Calibri"/>
              </a:rPr>
              <a:t>More KPIs, geospatial views and forecasting.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Future Work   - 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06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09728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8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56616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0">
                <a:solidFill>
                  <a:srgbClr val="F6A5A5"/>
                </a:solidFill>
                <a:latin typeface="Calibri"/>
              </a:rPr>
              <a:t>NetworkAnalyzer - turning operator data into 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4648" y="4297680"/>
            <a:ext cx="1828800" cy="50800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C700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6547104"/>
            <a:ext cx="5486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Calibri"/>
              </a:rPr>
              <a:t>NetworkAnalyzer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6547104"/>
            <a:ext cx="521208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Calibri"/>
              </a:rPr>
              <a:t>Thank you   -  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